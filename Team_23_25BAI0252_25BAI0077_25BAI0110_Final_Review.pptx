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0" y="411480"/>
            <a:ext cx="1600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75488"/>
            <a:ext cx="1385393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14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9CB8E8"/>
                </a:solidFill>
                <a:latin typeface="Calibri"/>
              </a:rPr>
              <a:t>FINAL REVIEW  |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ETHUSDT.P 30-Minute Strategy: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Backtest Engine, Trade-Outcome EDA and Validated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CCD6EC"/>
                </a:solidFill>
                <a:latin typeface="Calibri"/>
              </a:rPr>
              <a:t>A TradingView-exact Python backtester, exploratory analysis of 3,692 trades over 6.7 years,</a:t>
            </a:r>
          </a:p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CCD6EC"/>
                </a:solidFill>
                <a:latin typeface="Calibri"/>
              </a:rPr>
              <a:t>and a fee-aware optimization checked on held-out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Team 23:  Suvansh  •  Mudit  •  Jacob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9CB8E8"/>
                </a:solidFill>
                <a:latin typeface="Calibri"/>
              </a:rPr>
              <a:t>25BAI0252  •  25BAI0077  •  25BAI0110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2/21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222222"/>
                </a:solidFill>
                <a:latin typeface="Calibri"/>
              </a:rPr>
              <a:t>We built a Python backtest engine that reproduces TradingView's order-execution rules exactly, and used it to study a rule-based strategy on Binance ETHUSDT perpetual futures (30-minute bars, Nov 2019 - Aug 2026, 118,040 bars).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222222"/>
                </a:solidFill>
                <a:latin typeface="Calibri"/>
              </a:rPr>
              <a:t>Every trade is stored with a full snapshot of its indicators at entry. Exploratory data analysis - quintile binning, correlation, subgroup and time-series analysis - showed where the strategy loses: one entry type, long-held trades and high-volatility entries. Fees turn a +227% gross result into -142% net.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222222"/>
                </a:solidFill>
                <a:latin typeface="Calibri"/>
              </a:rPr>
              <a:t>Four rules derived from those findings, chosen by a sweep that must work on both 2019-23 and 2024-26, give +92% net with a drawdown cut from 198 to 40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2606040" cy="15087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1888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118,040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30m bars analysed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709160"/>
            <a:ext cx="2606040" cy="15087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481888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3,692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486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baseline trades studied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4709160"/>
            <a:ext cx="2606040" cy="15087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481888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-142% → +92%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5486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net return, baseline → optimized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4709160"/>
            <a:ext cx="2606040" cy="15087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399" y="481888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198 → 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39" y="54864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max drawdown (points)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3/21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▪  Backtest overfitting [1, 2].</a:t>
            </a:r>
            <a:r>
              <a:rPr sz="1500">
                <a:solidFill>
                  <a:srgbClr val="222222"/>
                </a:solidFill>
                <a:latin typeface="Calibri"/>
              </a:rPr>
              <a:t>  Bailey et al. show that testing many variants on one window makes an inflated in-sample result almost certain; out-of-sample performance then collapses.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▪  Walk-forward / hold-out validation [3].</a:t>
            </a:r>
            <a:r>
              <a:rPr sz="1500">
                <a:solidFill>
                  <a:srgbClr val="222222"/>
                </a:solidFill>
                <a:latin typeface="Calibri"/>
              </a:rPr>
              <a:t>  Pardo: fit on one period, judge on another, and only trust parameters that hold up on both.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▪  Exploratory Data Analysis [4].</a:t>
            </a:r>
            <a:r>
              <a:rPr sz="1500">
                <a:solidFill>
                  <a:srgbClr val="222222"/>
                </a:solidFill>
                <a:latin typeface="Calibri"/>
              </a:rPr>
              <a:t>  Tukey: look at distributions, groups and outliers before modelling. Binning and subgroup comparison find structure that a single correlation number hides.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▪  Technical indicators [5, 6].</a:t>
            </a:r>
            <a:r>
              <a:rPr sz="1500">
                <a:solidFill>
                  <a:srgbClr val="222222"/>
                </a:solidFill>
                <a:latin typeface="Calibri"/>
              </a:rPr>
              <a:t>  Wilder's ATR and DMI and Bollinger's bands are the standard, published building blocks used here, at their default settings.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▪  Risk-adjusted metrics [7].</a:t>
            </a:r>
            <a:r>
              <a:rPr sz="1500">
                <a:solidFill>
                  <a:srgbClr val="222222"/>
                </a:solidFill>
                <a:latin typeface="Calibri"/>
              </a:rPr>
              <a:t>  Calmar ratio (return / max drawdown) rewards strategies that survive bad periods, not just ones with a high final number.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500">
                <a:solidFill>
                  <a:srgbClr val="2A78D6"/>
                </a:solidFill>
                <a:latin typeface="Calibri"/>
              </a:rPr>
              <a:t>▪  Execution realism [8, 9].</a:t>
            </a:r>
            <a:r>
              <a:rPr sz="1500">
                <a:solidFill>
                  <a:srgbClr val="222222"/>
                </a:solidFill>
                <a:latin typeface="Calibri"/>
              </a:rPr>
              <a:t>  TradingView's broker emulator has documented intrabar fill and tick-rounding rules; Binance charges 0.05% taker fee per side. Ignoring either makes a backtest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4/21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▪  Strategies are usually tuned and judged in one tool on one period - nobody checks whether the edge holds across the full 6.7-year history.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▪  TradingView's Strategy Tester shows only totals (net profit, win rate, drawdown). It cannot say which market conditions at entry lead to wins or losses.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▪  Most retail backtests ignore trading fees. On a 30-minute strategy with thousands of trades, fees decide whether it makes or loses money.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▪  "Improving" a strategy by trying many settings easily overfits - a fair process needs a held-out check.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5/21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800">
                <a:solidFill>
                  <a:srgbClr val="2A78D6"/>
                </a:solidFill>
                <a:latin typeface="Calibri"/>
              </a:rPr>
              <a:t>▪  Build</a:t>
            </a:r>
            <a:r>
              <a:rPr sz="1800">
                <a:solidFill>
                  <a:srgbClr val="222222"/>
                </a:solidFill>
                <a:latin typeface="Calibri"/>
              </a:rPr>
              <a:t>  a Python backtest engine that follows TradingView's execution rules exactly.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800">
                <a:solidFill>
                  <a:srgbClr val="2A78D6"/>
                </a:solidFill>
                <a:latin typeface="Calibri"/>
              </a:rPr>
              <a:t>▪  Validate</a:t>
            </a:r>
            <a:r>
              <a:rPr sz="1800">
                <a:solidFill>
                  <a:srgbClr val="222222"/>
                </a:solidFill>
                <a:latin typeface="Calibri"/>
              </a:rPr>
              <a:t>  the engine trade-for-trade against a real TradingView trade export.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800">
                <a:solidFill>
                  <a:srgbClr val="2A78D6"/>
                </a:solidFill>
                <a:latin typeface="Calibri"/>
              </a:rPr>
              <a:t>▪  Create</a:t>
            </a:r>
            <a:r>
              <a:rPr sz="1800">
                <a:solidFill>
                  <a:srgbClr val="222222"/>
                </a:solidFill>
                <a:latin typeface="Calibri"/>
              </a:rPr>
              <a:t>  a per-trade dataset: outcome + every indicator value at entry, gross and net of fees.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800">
                <a:solidFill>
                  <a:srgbClr val="2A78D6"/>
                </a:solidFill>
                <a:latin typeface="Calibri"/>
              </a:rPr>
              <a:t>▪  Explore</a:t>
            </a:r>
            <a:r>
              <a:rPr sz="1800">
                <a:solidFill>
                  <a:srgbClr val="222222"/>
                </a:solidFill>
                <a:latin typeface="Calibri"/>
              </a:rPr>
              <a:t>  it with EDA - quintiles, correlation, subgroups, yearly breakdown - to find where losses come from.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800">
                <a:solidFill>
                  <a:srgbClr val="2A78D6"/>
                </a:solidFill>
                <a:latin typeface="Calibri"/>
              </a:rPr>
              <a:t>▪  Optimize</a:t>
            </a:r>
            <a:r>
              <a:rPr sz="1800">
                <a:solidFill>
                  <a:srgbClr val="222222"/>
                </a:solidFill>
                <a:latin typeface="Calibri"/>
              </a:rPr>
              <a:t>  return-to-drawdown with rules that come from the EDA, scored on two separate periods.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800">
                <a:solidFill>
                  <a:srgbClr val="2A78D6"/>
                </a:solidFill>
                <a:latin typeface="Calibri"/>
              </a:rPr>
              <a:t>▪  Package</a:t>
            </a:r>
            <a:r>
              <a:rPr sz="1800">
                <a:solidFill>
                  <a:srgbClr val="222222"/>
                </a:solidFill>
                <a:latin typeface="Calibri"/>
              </a:rPr>
              <a:t>  everything as a one-click, offline, reproducible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Existing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6/21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What it does well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Gap for this project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TradingView Strategy Tester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Fast visual backtests, Pine Script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Totals only; no per-trade indicator export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Backtrader / Zipline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General Python backtesting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Fill rules differ from TradingView; results don't match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Excel / manual analysis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Easy to inspect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Does not scale to 118k bars / 3.7k trades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Exchange PnL reports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Real fees and fills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Only for trades already taken; no what-if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1B2A4A"/>
                </a:solidFill>
                <a:latin typeface="Calibri"/>
              </a:rPr>
              <a:t>None of these combine TradingView-exact fills, a per-trade indicator dataset, fee-aware results and a fit/holdout optimizer in one pipeline - that is the gap this project fills.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7/21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600">
                <a:solidFill>
                  <a:srgbClr val="2A78D6"/>
                </a:solidFill>
                <a:latin typeface="Calibri"/>
              </a:rPr>
              <a:t>▪  Data layer:</a:t>
            </a:r>
            <a:r>
              <a:rPr sz="1600">
                <a:solidFill>
                  <a:srgbClr val="222222"/>
                </a:solidFill>
                <a:latin typeface="Calibri"/>
              </a:rPr>
              <a:t>  resumable downloader for Binance USD-M 30m candles; thin first-listing bars trimmed.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600">
                <a:solidFill>
                  <a:srgbClr val="2A78D6"/>
                </a:solidFill>
                <a:latin typeface="Calibri"/>
              </a:rPr>
              <a:t>▪  Signal layer:</a:t>
            </a:r>
            <a:r>
              <a:rPr sz="1600">
                <a:solidFill>
                  <a:srgbClr val="222222"/>
                </a:solidFill>
                <a:latin typeface="Calibri"/>
              </a:rPr>
              <a:t>  TradingView-exact indicator maths (EMA, RMA, SMA, stdev, stochastic, DMI, ATR, tick rounding).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600">
                <a:solidFill>
                  <a:srgbClr val="2A78D6"/>
                </a:solidFill>
                <a:latin typeface="Calibri"/>
              </a:rPr>
              <a:t>▪  Engine:</a:t>
            </a:r>
            <a:r>
              <a:rPr sz="1600">
                <a:solidFill>
                  <a:srgbClr val="222222"/>
                </a:solidFill>
                <a:latin typeface="Calibri"/>
              </a:rPr>
              <a:t>  one position at a time, next-bar-open fills, TradingView's intrabar TP/SL path rule, fees, and switchable rule variants (time-stop, volatility cap, trigger skip, ATR brackets).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600">
                <a:solidFill>
                  <a:srgbClr val="2A78D6"/>
                </a:solidFill>
                <a:latin typeface="Calibri"/>
              </a:rPr>
              <a:t>▪  Validation:</a:t>
            </a:r>
            <a:r>
              <a:rPr sz="1600">
                <a:solidFill>
                  <a:srgbClr val="222222"/>
                </a:solidFill>
                <a:latin typeface="Calibri"/>
              </a:rPr>
              <a:t>  diffs every engine trade against a TradingView "List of trades" export.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600">
                <a:solidFill>
                  <a:srgbClr val="2A78D6"/>
                </a:solidFill>
                <a:latin typeface="Calibri"/>
              </a:rPr>
              <a:t>▪  EDA layer:</a:t>
            </a:r>
            <a:r>
              <a:rPr sz="1600">
                <a:solidFill>
                  <a:srgbClr val="222222"/>
                </a:solidFill>
                <a:latin typeface="Calibri"/>
              </a:rPr>
              <a:t>  one row per trade with the full indicator snapshot; six analyses and charts.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600">
                <a:solidFill>
                  <a:srgbClr val="2A78D6"/>
                </a:solidFill>
                <a:latin typeface="Calibri"/>
              </a:rPr>
              <a:t>▪  Optimizer:</a:t>
            </a:r>
            <a:r>
              <a:rPr sz="1600">
                <a:solidFill>
                  <a:srgbClr val="222222"/>
                </a:solidFill>
                <a:latin typeface="Calibri"/>
              </a:rPr>
              <a:t>  200-candidate sweep ranked by the worse of the 2019-23 and 2024-26 Calmar ratios.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Architecture / System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8/21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1828800"/>
            <a:ext cx="1463040" cy="1234440"/>
          </a:xfrm>
          <a:prstGeom prst="roundRect">
            <a:avLst/>
          </a:prstGeom>
          <a:solidFill>
            <a:srgbClr val="2A78D6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Binance API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30m OHLCV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2019-2026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9607" y="2194560"/>
            <a:ext cx="22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2487" y="1828800"/>
            <a:ext cx="1463040" cy="1234440"/>
          </a:xfrm>
          <a:prstGeom prst="roundRect">
            <a:avLst/>
          </a:prstGeom>
          <a:solidFill>
            <a:srgbClr val="2A78D6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Signals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indicators.py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signals.py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5527" y="2194560"/>
            <a:ext cx="22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8407" y="1828800"/>
            <a:ext cx="1463040" cy="1234440"/>
          </a:xfrm>
          <a:prstGeom prst="roundRect">
            <a:avLst/>
          </a:prstGeom>
          <a:solidFill>
            <a:srgbClr val="1F9D55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Backtest Engine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engine.py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(fills + fees)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1447" y="2194560"/>
            <a:ext cx="22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4327" y="1828800"/>
            <a:ext cx="1463040" cy="1234440"/>
          </a:xfrm>
          <a:prstGeom prst="roundRect">
            <a:avLst/>
          </a:prstGeom>
          <a:solidFill>
            <a:srgbClr val="2A78D6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Validation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vs TradingView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7367" y="2194560"/>
            <a:ext cx="22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0247" y="1828800"/>
            <a:ext cx="1463040" cy="1234440"/>
          </a:xfrm>
          <a:prstGeom prst="roundRect">
            <a:avLst/>
          </a:prstGeom>
          <a:solidFill>
            <a:srgbClr val="2A78D6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Trade Dataset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1 row / trade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+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3287" y="2194560"/>
            <a:ext cx="22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6167" y="1828800"/>
            <a:ext cx="1463040" cy="1234440"/>
          </a:xfrm>
          <a:prstGeom prst="roundRect">
            <a:avLst/>
          </a:prstGeom>
          <a:solidFill>
            <a:srgbClr val="2A78D6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EDA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eda.py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6 analyses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9207" y="2194560"/>
            <a:ext cx="22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02087" y="1828800"/>
            <a:ext cx="1463040" cy="1234440"/>
          </a:xfrm>
          <a:prstGeom prst="roundRect">
            <a:avLst/>
          </a:prstGeom>
          <a:solidFill>
            <a:srgbClr val="1F9D55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Optimizer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optimize.py</a:t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fit / holdout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55555"/>
                </a:solidFill>
                <a:latin typeface="Calibri"/>
              </a:rPr>
              <a:t>Data flows one way. Each stage only reads the previous stage's output, so each can be checked on its own: indicators against TradingView's formulas, engine trades against a real TradingView export, and EDA / optimizer results by re-running one command.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55555"/>
                </a:solidFill>
                <a:latin typeface="Calibri"/>
              </a:rPr>
              <a:t>The optimizer feeds rule ideas back into the engine as configuration presets (baseline, optimized) - the strategy code itself is never edited to chase a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Modules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9/21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fetch_binance_data.py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371600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Downloads full ETHUSDT.P 30m history from Binance's public API; resumable, gap-checked.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indicators.py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93392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TradingView-exact ta.* functions: ema, rma, sma, stdev, stoch, true range, DMI, crossover, tick rounding.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signals.py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15184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Strategy rules: bb_cross (trend-aligned mean reversion) and dmi_trend (trend continuation); TP/SL 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3697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engine.py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36976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Sequential backtester: next-bar fills, intrabar TP/SL path, fees, time-stop, ATR cap, trigger skip, ATR brackets.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main.py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58768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CLI: --preset baseline | optimized; writes one row per trade with the indicator snapshot.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validate.py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480560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Trade-by-trade diff against a TradingView export (handles its timezone and two-rows-per-trade layout).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02352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eda.py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102352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Equity, yearly, trigger, quintile, correlation and holding-time analyses + text summary.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24144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2A78D6"/>
                </a:solidFill>
                <a:latin typeface="Consolas"/>
              </a:rPr>
              <a:t>optimize.py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724144"/>
            <a:ext cx="81381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200-candidate sweep; Calmar on 2019-23 and 2024-26, ranked by the worse of the two.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Dataset and Strategy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10/21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51206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Binance USD-M Futures public API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ETHUSDT perpetual (ETHUSDT.P)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Timeframe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30-minute candles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27 Nov 2019 - 21 Aug 2026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118,040 bars (OHLCV + trade count)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Costs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0.05% taker fee per side (0.10% round trip)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Baseline strategy (standard settings)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bb_cross:</a:t>
            </a:r>
            <a:r>
              <a:rPr sz="1450">
                <a:solidFill>
                  <a:srgbClr val="222222"/>
                </a:solidFill>
                <a:latin typeface="Calibri"/>
              </a:rPr>
              <a:t>  uptrend (EMA50 &gt; EMA200) + close crosses back above lower Bollinger band (20, 2) + Stochastic %K(14) &lt; 25 → long. Mirror for short.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dmi_trend:</a:t>
            </a:r>
            <a:r>
              <a:rPr sz="1450">
                <a:solidFill>
                  <a:srgbClr val="222222"/>
                </a:solidFill>
                <a:latin typeface="Calibri"/>
              </a:rPr>
              <a:t>  +DI - -DI (14) crosses above +20 with price above EMA50 → long. Mirror for short.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Exit:</a:t>
            </a:r>
            <a:r>
              <a:rPr sz="1450">
                <a:solidFill>
                  <a:srgbClr val="222222"/>
                </a:solidFill>
                <a:latin typeface="Calibri"/>
              </a:rPr>
              <a:t>  fixed 1.5% take-profit / 1.5% stop-loss bracket.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Execution:</a:t>
            </a:r>
            <a:r>
              <a:rPr sz="1450">
                <a:solidFill>
                  <a:srgbClr val="222222"/>
                </a:solidFill>
                <a:latin typeface="Calibri"/>
              </a:rPr>
              <a:t>  signal on bar close, fill at next bar's open, one position at a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Engine Validation against TradingView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11/21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291840" cy="15544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1,858 / 1,864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trades matched a TradingView</a:t>
            </a:r>
          </a:p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export exactly (99.7%)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3291840" cy="15544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D03B3B"/>
                </a:solidFill>
                <a:latin typeface="Calibri"/>
              </a:rPr>
              <a:t>2 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found only because of the diff:</a:t>
            </a:r>
          </a:p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timezone + formula 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1732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Method:</a:t>
            </a:r>
            <a:r>
              <a:rPr sz="1450">
                <a:solidFill>
                  <a:srgbClr val="222222"/>
                </a:solidFill>
                <a:latin typeface="Calibri"/>
              </a:rPr>
              <a:t>  ran a reference strategy in both TradingView and our engine on the same data, then compared entry time, exit time, prices and return for every trade.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Intrabar rule:</a:t>
            </a:r>
            <a:r>
              <a:rPr sz="1450">
                <a:solidFill>
                  <a:srgbClr val="222222"/>
                </a:solidFill>
                <a:latin typeface="Calibri"/>
              </a:rPr>
              <a:t>  when TP and SL are both inside one candle, TradingView assumes open → nearer extreme → farther extreme. The engine copies this.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Tick rounding:</a:t>
            </a:r>
            <a:r>
              <a:rPr sz="1450">
                <a:solidFill>
                  <a:srgbClr val="222222"/>
                </a:solidFill>
                <a:latin typeface="Calibri"/>
              </a:rPr>
              <a:t>  limit prices round toward a better fill, stops toward never triggering early - matched TradingView's exit prices to the cent.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b="1" sz="1450">
                <a:solidFill>
                  <a:srgbClr val="2A78D6"/>
                </a:solidFill>
                <a:latin typeface="Calibri"/>
              </a:rPr>
              <a:t>▪  Bugs caught:</a:t>
            </a:r>
            <a:r>
              <a:rPr sz="1450">
                <a:solidFill>
                  <a:srgbClr val="222222"/>
                </a:solidFill>
                <a:latin typeface="Calibri"/>
              </a:rPr>
              <a:t>  TradingView exports in the account's timezone (New York, DST-aware), not UTC; one indicator had a sign error. Both invisible without trade-level checking.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EDA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Correlation Hides It, Binning Finds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12/21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pic>
        <p:nvPicPr>
          <p:cNvPr id="8" name="Picture 7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088194" cy="4206240"/>
          </a:xfrm>
          <a:prstGeom prst="rect">
            <a:avLst/>
          </a:prstGeom>
        </p:spPr>
      </p:pic>
      <p:pic>
        <p:nvPicPr>
          <p:cNvPr id="9" name="Picture 8" descr="quin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1897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0680" y="3657600"/>
            <a:ext cx="6492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Every indicator's linear correlation with the trade result is near zero (|r| ≤ 0.05).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Split into quintiles, a clear pattern appears: the most volatile entries (ATR% Q5) lose -0.10% per trade, the calmest (Q1) are the only positive group.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DMI: only the strongest-trend quintile (Q5) makes money.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Lesson: a non-linear relationship needs binning, not just correlation.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EDA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Which Trades Lose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13/21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pic>
        <p:nvPicPr>
          <p:cNvPr id="8" name="Picture 7" descr="trigger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035040" cy="2534717"/>
          </a:xfrm>
          <a:prstGeom prst="rect">
            <a:avLst/>
          </a:prstGeom>
        </p:spPr>
      </p:pic>
      <p:pic>
        <p:nvPicPr>
          <p:cNvPr id="9" name="Picture 8" descr="holding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25880"/>
            <a:ext cx="5303520" cy="282854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51960"/>
          <a:ext cx="56692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2801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 rate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net / trade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bb_cross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934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46.5%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-0.206%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dmi_trend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2,758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54.0%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+0.018%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42519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bb_cross loses money in 7 of 8 years - it is a structural loser, not bad luck.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Trades closed within 3 h make +0.10%; every longer bucket loses (-0.06% to -0.23%).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▪  If a trade hasn't hit TP fast, it usually won't.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EDA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Fee Effect: Gross vs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14/21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pic>
        <p:nvPicPr>
          <p:cNvPr id="8" name="Picture 7" descr="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34449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371600"/>
            <a:ext cx="3657600" cy="14630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813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+227.5%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baseline, gross (before fees)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971800"/>
            <a:ext cx="3657600" cy="14630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0815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D03B3B"/>
                </a:solidFill>
                <a:latin typeface="Calibri"/>
              </a:rPr>
              <a:t>-141.7%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749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baseline, net of 0.10% per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3,692 trades × 0.10% = 369 points of fees. Average gross edge is only +0.06% per trade, so fees wipe it out. Fewer, better trades matter more than more trades.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From EDA Findings to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15/21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EDA finding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Rule added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Grid tested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bb_cross loses in 7 of 8 years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Skip bb_cross entries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on / off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Trades open &gt; 3 h lose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Time-stop after N bars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none, 12, 24, 48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Volatile ATR% quintile is worst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Skip entry if ATR% &gt; cap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none, 0.6, 0.8, 1.0, 1.3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Fixed % ignores volatility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TP / SL as ATR multiples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fixed, 2/2, 3/2, 2/3, 4/3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5760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550">
                <a:solidFill>
                  <a:srgbClr val="2A78D6"/>
                </a:solidFill>
                <a:latin typeface="Calibri"/>
              </a:rPr>
              <a:t>▪  200 candidates</a:t>
            </a:r>
            <a:r>
              <a:rPr sz="1550">
                <a:solidFill>
                  <a:srgbClr val="222222"/>
                </a:solidFill>
                <a:latin typeface="Calibri"/>
              </a:rPr>
              <a:t>  (2 × 4 × 5 × 5), each scored separately on 2019-2023 (fit) and 2024-2026 (holdout).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550">
                <a:solidFill>
                  <a:srgbClr val="2A78D6"/>
                </a:solidFill>
                <a:latin typeface="Calibri"/>
              </a:rPr>
              <a:t>▪  Ranked by the worse of the two Calmar ratios</a:t>
            </a:r>
            <a:r>
              <a:rPr sz="1550">
                <a:solidFill>
                  <a:srgbClr val="222222"/>
                </a:solidFill>
                <a:latin typeface="Calibri"/>
              </a:rPr>
              <a:t>  - a rule set cannot win by being great on one half and bad on the other.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550">
                <a:solidFill>
                  <a:srgbClr val="2A78D6"/>
                </a:solidFill>
                <a:latin typeface="Calibri"/>
              </a:rPr>
              <a:t>▪  Winner:</a:t>
            </a:r>
            <a:r>
              <a:rPr sz="1550">
                <a:solidFill>
                  <a:srgbClr val="222222"/>
                </a:solidFill>
                <a:latin typeface="Calibri"/>
              </a:rPr>
              <a:t>  skip bb_cross + 24-bar (12 h) time-stop + ATR cap 0.8% + TP 4×ATR / SL 3×ATR. Worst-half Calmar 1.07 (baseline: -0.71).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Baseline vs Optimized (net of fees)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16/21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51560"/>
                <a:gridCol w="1097280"/>
                <a:gridCol w="1097280"/>
                <a:gridCol w="1005840"/>
                <a:gridCol w="960120"/>
                <a:gridCol w="1051560"/>
                <a:gridCol w="14173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Win rate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Gross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Calmar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Fit 19-23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Holdout 24-26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+ve years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3,692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52.1%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+227.5%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-141.7%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198.1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-0.72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-0.51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</a:rPr>
                        <a:t>2 / 8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Optimized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1,534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46.3%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+245.8%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+92.4%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40.3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2.29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1.60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</a:rPr>
                        <a:t>6 / 8</a:t>
                      </a:r>
                    </a:p>
                  </a:txBody>
                  <a:tcPr anchor="ctr" marL="60000" marR="60000">
                    <a:solidFill>
                      <a:srgbClr val="E3EE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017520"/>
            <a:ext cx="2606040" cy="14630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+234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net return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017520"/>
            <a:ext cx="2606040" cy="14630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12724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-80%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max drawdown (198 → 40)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017520"/>
            <a:ext cx="2606040" cy="14630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312724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-58%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trades (less fee drag)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3017520"/>
            <a:ext cx="2606040" cy="14630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399" y="312724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F9D55"/>
                </a:solidFill>
                <a:latin typeface="Calibri"/>
              </a:rPr>
              <a:t>both halves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39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555555"/>
                </a:solidFill>
                <a:latin typeface="Calibri"/>
              </a:rPr>
              <a:t>positive Calmar (fit and holdout)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55555"/>
                </a:solidFill>
                <a:latin typeface="Calibri"/>
              </a:rPr>
              <a:t>Win rate goes down (52% → 46%) while profit goes up: the ATR bracket lets winners run to 4×ATR and cuts losers at 3×ATR, so the average win is larger than the average loss. Win rate alone is a misleading metric - a key EDA takeaway.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Year-by-Year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17/21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pic>
        <p:nvPicPr>
          <p:cNvPr id="8" name="Picture 7" descr="yearly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315200" cy="307238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46720" y="1371600"/>
          <a:ext cx="3657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Optimized</a:t>
                      </a:r>
                    </a:p>
                  </a:txBody>
                  <a:tcPr anchor="ctr" marL="60000" marR="600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2019*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-5.8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+4.6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+7.2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+38.3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-63.2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+11.4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-9.1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+33.8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-36.2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-23.5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+10.4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+1.3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-30.4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+33.9</a:t>
                      </a:r>
                    </a:p>
                  </a:txBody>
                  <a:tcPr anchor="ctr" marL="60000" marR="6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2026*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-14.6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-7.4</a:t>
                      </a:r>
                    </a:p>
                  </a:txBody>
                  <a:tcPr anchor="ctr" marL="60000" marR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55555"/>
                </a:solidFill>
                <a:latin typeface="Calibri"/>
              </a:rPr>
              <a:t>Net return % per calendar year (*partial years). The optimized rules are positive in 6 of 8 years versus 2 of 8. 2023 (a quiet, range-bound year) is still negative - an honest limitation: the trend trigger needs trends.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18/21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447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Double-click run_demo.bat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922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Installs pandas / numpy / matplotlib; data is bundled - works offline.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59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Baseline backtest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06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118,040 bars → 3,692 trades → output/trades_with_indicators.csv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735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Optimized backtest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210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Same engine, optimized preset → 1,534 trades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87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354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eda.py writes 6 charts to figures/ and the summary table to output/eda_summary.txt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102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(Optional) optimize.py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4498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Re-runs the 200-candidate fit/holdout sweep → output/optimize_sweep.csv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19/21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Correct engine first:</a:t>
            </a:r>
            <a:r>
              <a:rPr sz="1700">
                <a:solidFill>
                  <a:srgbClr val="222222"/>
                </a:solidFill>
                <a:latin typeface="Calibri"/>
              </a:rPr>
              <a:t>  matching TradingView trade-for-trade caught two silent bugs that would have made every later analysis wrong.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EDA explains the losses:</a:t>
            </a:r>
            <a:r>
              <a:rPr sz="1700">
                <a:solidFill>
                  <a:srgbClr val="222222"/>
                </a:solidFill>
                <a:latin typeface="Calibri"/>
              </a:rPr>
              <a:t>  one entry type, slow trades and high-volatility entries - found with binning and subgroups, not visible in correlation.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Fees are decisive:</a:t>
            </a:r>
            <a:r>
              <a:rPr sz="1700">
                <a:solidFill>
                  <a:srgbClr val="222222"/>
                </a:solidFill>
                <a:latin typeface="Calibri"/>
              </a:rPr>
              <a:t>  a strategy with +227% gross loses 142% net. Any short-timeframe backtest must report both.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Disciplined optimization works:</a:t>
            </a:r>
            <a:r>
              <a:rPr sz="1700">
                <a:solidFill>
                  <a:srgbClr val="222222"/>
                </a:solidFill>
                <a:latin typeface="Calibri"/>
              </a:rPr>
              <a:t>  4 EDA-based rules, chosen on the worse of two periods, turn -142% into +92% net and cut drawdown by 80%.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Honest limits:</a:t>
            </a:r>
            <a:r>
              <a:rPr sz="1700">
                <a:solidFill>
                  <a:srgbClr val="222222"/>
                </a:solidFill>
                <a:latin typeface="Calibri"/>
              </a:rPr>
              <a:t>  2 of 8 years still negative; no funding rates or slippage; past data does not guarantee future results.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20/21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Funding rates and slippage</a:t>
            </a:r>
            <a:r>
              <a:rPr sz="1700">
                <a:solidFill>
                  <a:srgbClr val="222222"/>
                </a:solidFill>
                <a:latin typeface="Calibri"/>
              </a:rPr>
              <a:t>  added to the cost model for fully realistic net results.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Rolling walk-forward</a:t>
            </a:r>
            <a:r>
              <a:rPr sz="1700">
                <a:solidFill>
                  <a:srgbClr val="222222"/>
                </a:solidFill>
                <a:latin typeface="Calibri"/>
              </a:rPr>
              <a:t>  (re-fit every year, test on the next) instead of a single fit/holdout split.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More markets</a:t>
            </a:r>
            <a:r>
              <a:rPr sz="1700">
                <a:solidFill>
                  <a:srgbClr val="222222"/>
                </a:solidFill>
                <a:latin typeface="Calibri"/>
              </a:rPr>
              <a:t>  - run the same rules on BTC, SOL and other coins to test whether findings generalise.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Machine-learning filter</a:t>
            </a:r>
            <a:r>
              <a:rPr sz="1700">
                <a:solidFill>
                  <a:srgbClr val="222222"/>
                </a:solidFill>
                <a:latin typeface="Calibri"/>
              </a:rPr>
              <a:t>  trained on the per-trade indicator dataset to score entries before taking them.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Paper trading</a:t>
            </a:r>
            <a:r>
              <a:rPr sz="1700">
                <a:solidFill>
                  <a:srgbClr val="222222"/>
                </a:solidFill>
                <a:latin typeface="Calibri"/>
              </a:rPr>
              <a:t>  via the Binance testnet to compare live fills with the backtest.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b="1" sz="1700">
                <a:solidFill>
                  <a:srgbClr val="2A78D6"/>
                </a:solidFill>
                <a:latin typeface="Calibri"/>
              </a:rPr>
              <a:t>▪  Interactive dashboard</a:t>
            </a:r>
            <a:r>
              <a:rPr sz="1700">
                <a:solidFill>
                  <a:srgbClr val="222222"/>
                </a:solidFill>
                <a:latin typeface="Calibri"/>
              </a:rPr>
              <a:t>  to explore trades and EDA results without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CB8E8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0" i="0">
                <a:solidFill>
                  <a:srgbClr val="9CB8E8"/>
                </a:solidFill>
                <a:latin typeface="Calibri"/>
              </a:rPr>
              <a:t>21/21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999999"/>
                </a:solidFill>
                <a:latin typeface="Calibri"/>
              </a:rPr>
              <a:t>Exploratory Data Analysis - Final Review  |  Team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[1]  D. H. Bailey, J. M. Borwein, M. Lopez de Prado, Q. J. Zhu, "Pseudo-Mathematics and Financial Charlatanism: The Effects of Backtest Overfitting on Out-of-Sample Performance," Notices of the AMS, 61(5), 2014.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[2]  D. H. Bailey, M. Lopez de Prado, "The Deflated Sharpe Ratio," Journal of Portfolio Management, 40(5), 2014.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[3]  R. Pardo, The Evaluation and Optimization of Trading Strategies, 2nd ed., Wiley, 2008.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[4]  J. W. Tukey, Exploratory Data Analysis, Addison-Wesley, 1977.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[5]  J. W. Wilder, New Concepts in Technical Trading Systems, Trend Research, 1978.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[6]  J. Bollinger, Bollinger on Bollinger Bands, McGraw-Hill, 2001.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[7]  T. W. Young, "Calmar Ratio: A Smoother Tool," Futures, 20(1), 1991.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[8]  TradingView, Pine Script v5 User Manual - Strategies (broker emulator), tradingview.com/pine-script-docs.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[9]  Binance, USD-M Futures API documentation and fee schedule, developers.binance.com.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31920"/>
            <a:ext cx="1219169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0" i="0">
                <a:solidFill>
                  <a:srgbClr val="9CB8E8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 i="0">
                <a:solidFill>
                  <a:srgbClr val="9CB8E8"/>
                </a:solidFill>
                <a:latin typeface="Calibri"/>
              </a:rPr>
              <a:t>Team 23  •  Suvansh  •  Mudit  •  Jacob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